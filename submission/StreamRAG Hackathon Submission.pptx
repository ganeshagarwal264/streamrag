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9144000"/>
  <p:embeddedFontLst>
    <p:embeddedFont>
      <p:font typeface="Inter"/>
      <p:regular r:id="rId18"/>
      <p:bold r:id="rId19"/>
      <p:italic r:id="rId20"/>
      <p:boldItalic r:id="rId21"/>
    </p:embeddedFont>
    <p:embeddedFont>
      <p:font typeface="JetBrains Mono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font" Target="fonts/Inter-regular.fntdata"/><Relationship Id="rId19" Type="http://schemas.openxmlformats.org/officeDocument/2006/relationships/font" Target="fonts/Inter-bold.fntdata"/><Relationship Id="rId20" Type="http://schemas.openxmlformats.org/officeDocument/2006/relationships/font" Target="fonts/Inter-italic.fntdata"/><Relationship Id="rId21" Type="http://schemas.openxmlformats.org/officeDocument/2006/relationships/font" Target="fonts/Inter-boldItalic.fntdata"/><Relationship Id="rId22" Type="http://schemas.openxmlformats.org/officeDocument/2006/relationships/font" Target="fonts/JetBrainsMono-regular.fntdata"/><Relationship Id="rId23" Type="http://schemas.openxmlformats.org/officeDocument/2006/relationships/font" Target="fonts/JetBrainsMono-bold.fntdata"/><Relationship Id="rId24" Type="http://schemas.openxmlformats.org/officeDocument/2006/relationships/font" Target="fonts/JetBrainsMono-italic.fntdata"/><Relationship Id="rId25" Type="http://schemas.openxmlformats.org/officeDocument/2006/relationships/font" Target="fonts/JetBrainsMon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5.jpg"/><Relationship Id="rId5" Type="http://schemas.openxmlformats.org/officeDocument/2006/relationships/image" Target="../media/image6.png"/><Relationship Id="rId6" Type="http://schemas.openxmlformats.org/officeDocument/2006/relationships/image" Target="../media/image8.jpg"/><Relationship Id="rId7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drive.google.com/file/d/1i0GMIBYXcqjJvhEG8op0SK2mIyaaOcXd/view?usp=drive_link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777240" y="676656"/>
            <a:ext cx="2423100" cy="347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777240" y="676656"/>
            <a:ext cx="2423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777240" y="1207008"/>
            <a:ext cx="61266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777240" y="1901952"/>
            <a:ext cx="61266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77240" y="2724912"/>
            <a:ext cx="6126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77240" y="3310128"/>
            <a:ext cx="58521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- 4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MSRIT_dRAG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M S Ramaiah Institute </a:t>
            </a:r>
            <a:r>
              <a:rPr lang="en-US" sz="16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of Technology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 Harsh Gupta </a:t>
            </a:r>
            <a:r>
              <a:rPr lang="en-US" sz="16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1ms25cs062@msrit.edu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 </a:t>
            </a:r>
            <a:r>
              <a:rPr lang="en-US" sz="16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Ganesh</a:t>
            </a: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Agarwal </a:t>
            </a:r>
            <a:r>
              <a:rPr lang="en-US" sz="16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1ms25cs057@msrit.edu</a:t>
            </a:r>
            <a:endParaRPr sz="1600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 </a:t>
            </a:r>
            <a:r>
              <a:rPr lang="en-US" sz="16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Ayush Singh </a:t>
            </a:r>
            <a:r>
              <a:rPr lang="en-US" sz="16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1ms25cs033@msrit.edu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</a:t>
            </a:r>
            <a:r>
              <a:rPr lang="en-US" sz="16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Garvit Rathod </a:t>
            </a:r>
            <a:r>
              <a:rPr lang="en-US" sz="16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1ms25cs059@msrit.edu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</a:t>
            </a: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- https://github.com/ganeshagarwal264/StreamRag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5272980" y="2176462"/>
            <a:ext cx="6309419" cy="962025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5272980" y="3290887"/>
            <a:ext cx="6309419" cy="962025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/>
          <p:nvPr/>
        </p:nvSpPr>
        <p:spPr>
          <a:xfrm>
            <a:off x="5272980" y="4405312"/>
            <a:ext cx="6309419" cy="962025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5272980" y="2176462"/>
            <a:ext cx="38100" cy="96202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5272980" y="3290887"/>
            <a:ext cx="38100" cy="96202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5272980" y="4405312"/>
            <a:ext cx="38100" cy="96202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609600" y="457200"/>
            <a:ext cx="115824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>
              <a:solidFill>
                <a:srgbClr val="6D28D9"/>
              </a:solidFill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609600" y="2436614"/>
            <a:ext cx="4301400" cy="18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D28D9"/>
                </a:solidFill>
                <a:latin typeface="Inter"/>
                <a:ea typeface="Inter"/>
                <a:cs typeface="Inter"/>
                <a:sym typeface="Inter"/>
              </a:rPr>
              <a:t>Conversational voice systems require incremental, real-time context.</a:t>
            </a:r>
            <a:endParaRPr>
              <a:solidFill>
                <a:srgbClr val="6D28D9"/>
              </a:solidFill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609600" y="4249935"/>
            <a:ext cx="430143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Standard RAG pipelines fail to reflect natural human communication by imposing static, batch-oriented turns.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5539680" y="2405062"/>
            <a:ext cx="665231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Incremental Listening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5539680" y="2709862"/>
            <a:ext cx="665231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Predicts retrieval intent before utterance finishes.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5539680" y="3519487"/>
            <a:ext cx="665231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Multi-Intent Queries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5539680" y="3824287"/>
            <a:ext cx="665231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Extracts distinct sub-questions from unsegmented streams.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539680" y="4633912"/>
            <a:ext cx="665231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Late-Arriving Constraints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5539680" y="4938712"/>
            <a:ext cx="665231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Refines answers mid-stream without discarding prior context.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/>
          <p:nvPr/>
        </p:nvSpPr>
        <p:spPr>
          <a:xfrm>
            <a:off x="609600" y="1143000"/>
            <a:ext cx="10972800" cy="1704975"/>
          </a:xfrm>
          <a:prstGeom prst="roundRect">
            <a:avLst>
              <a:gd fmla="val 6703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1809750" y="1914525"/>
            <a:ext cx="1990725" cy="552450"/>
          </a:xfrm>
          <a:prstGeom prst="roundRect">
            <a:avLst>
              <a:gd fmla="val 13793" name="adj"/>
            </a:avLst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5162550" y="1914525"/>
            <a:ext cx="1762125" cy="552450"/>
          </a:xfrm>
          <a:prstGeom prst="roundRect">
            <a:avLst>
              <a:gd fmla="val 13793" name="adj"/>
            </a:avLst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/>
          <p:nvPr/>
        </p:nvSpPr>
        <p:spPr>
          <a:xfrm>
            <a:off x="8286750" y="1914525"/>
            <a:ext cx="2095500" cy="552450"/>
          </a:xfrm>
          <a:prstGeom prst="roundRect">
            <a:avLst>
              <a:gd fmla="val 13793" name="adj"/>
            </a:avLst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18" name="Google Shape;11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1500" y="2076450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05700" y="2076450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" y="3324225"/>
            <a:ext cx="1428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48400" y="3324225"/>
            <a:ext cx="1428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" y="4171950"/>
            <a:ext cx="1428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48400" y="4171950"/>
            <a:ext cx="14287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5"/>
          <p:cNvSpPr txBox="1"/>
          <p:nvPr/>
        </p:nvSpPr>
        <p:spPr>
          <a:xfrm>
            <a:off x="609600" y="457200"/>
            <a:ext cx="11582400" cy="10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1" sz="3000">
              <a:solidFill>
                <a:srgbClr val="6D28D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-142875" y="1524000"/>
            <a:ext cx="124777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CONVENTIONAL QUERY-AT-A-TIME PIPELINE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1789509" y="2066925"/>
            <a:ext cx="2031206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Complete Query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5170884" y="2066925"/>
            <a:ext cx="1745456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Retrieve Docs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8253412" y="2066925"/>
            <a:ext cx="216217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Generate Answer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609600" y="3305175"/>
            <a:ext cx="70008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End-of-Utterance Blocking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609600" y="3648075"/>
            <a:ext cx="6667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Waits for final utterance completion before initiating search.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6248400" y="3305175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Compound Intent Failure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6248400" y="3648075"/>
            <a:ext cx="59436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Retrieves poorly when multiple distinct needs merge.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609600" y="4152900"/>
            <a:ext cx="70008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Destructive Refinement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609600" y="4495800"/>
            <a:ext cx="6667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Late constraints force a complete pipeline restart.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6248400" y="4152900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Unsupported Hallucination</a:t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6248400" y="4495800"/>
            <a:ext cx="59436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Fabricates answers when corpus evidence is insufficient.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/>
          <p:nvPr/>
        </p:nvSpPr>
        <p:spPr>
          <a:xfrm>
            <a:off x="1809750" y="1609725"/>
            <a:ext cx="8572500" cy="619125"/>
          </a:xfrm>
          <a:prstGeom prst="roundRect">
            <a:avLst>
              <a:gd fmla="val 12307" name="adj"/>
            </a:avLst>
          </a:prstGeom>
          <a:solidFill>
            <a:srgbClr val="F3F4F6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1809750" y="2838450"/>
            <a:ext cx="8572500" cy="676275"/>
          </a:xfrm>
          <a:prstGeom prst="roundRect">
            <a:avLst>
              <a:gd fmla="val 112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1809750" y="4124325"/>
            <a:ext cx="8572500" cy="600075"/>
          </a:xfrm>
          <a:prstGeom prst="roundRect">
            <a:avLst>
              <a:gd fmla="val 12698" name="adj"/>
            </a:avLst>
          </a:prstGeom>
          <a:solidFill>
            <a:srgbClr val="F3F4F6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1809750" y="5334000"/>
            <a:ext cx="8572500" cy="600075"/>
          </a:xfrm>
          <a:prstGeom prst="roundRect">
            <a:avLst>
              <a:gd fmla="val 12698" name="adj"/>
            </a:avLst>
          </a:prstGeom>
          <a:solidFill>
            <a:srgbClr val="F3F4F6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1819275" y="1619250"/>
            <a:ext cx="2476500" cy="600075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1809750" y="3505200"/>
            <a:ext cx="85725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1809750" y="2838450"/>
            <a:ext cx="85725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1809750" y="2838450"/>
            <a:ext cx="38100" cy="67627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10372725" y="2838450"/>
            <a:ext cx="9525" cy="67627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4314825" y="2847975"/>
            <a:ext cx="9525" cy="6572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4286250" y="4133850"/>
            <a:ext cx="9525" cy="5810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4286250" y="5343525"/>
            <a:ext cx="9525" cy="5810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/>
          <p:nvPr/>
        </p:nvSpPr>
        <p:spPr>
          <a:xfrm>
            <a:off x="4514850" y="3038475"/>
            <a:ext cx="657225" cy="276225"/>
          </a:xfrm>
          <a:prstGeom prst="roundRect">
            <a:avLst>
              <a:gd fmla="val 13793" name="adj"/>
            </a:avLst>
          </a:prstGeom>
          <a:solidFill>
            <a:srgbClr val="FC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/>
          <p:nvPr/>
        </p:nvSpPr>
        <p:spPr>
          <a:xfrm>
            <a:off x="5324475" y="3038475"/>
            <a:ext cx="952500" cy="276225"/>
          </a:xfrm>
          <a:prstGeom prst="roundRect">
            <a:avLst>
              <a:gd fmla="val 13793" name="adj"/>
            </a:avLst>
          </a:prstGeom>
          <a:solidFill>
            <a:srgbClr val="86EFA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6"/>
          <p:cNvSpPr/>
          <p:nvPr/>
        </p:nvSpPr>
        <p:spPr>
          <a:xfrm>
            <a:off x="6429375" y="3038475"/>
            <a:ext cx="1000125" cy="276225"/>
          </a:xfrm>
          <a:prstGeom prst="roundRect">
            <a:avLst>
              <a:gd fmla="val 13793" name="adj"/>
            </a:avLst>
          </a:prstGeom>
          <a:solidFill>
            <a:srgbClr val="D1D5D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6" name="Google Shape;15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10275" y="2419350"/>
            <a:ext cx="1714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10275" y="3705225"/>
            <a:ext cx="1714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8" name="Google Shape;15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10275" y="4914900"/>
            <a:ext cx="1714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6"/>
          <p:cNvSpPr txBox="1"/>
          <p:nvPr/>
        </p:nvSpPr>
        <p:spPr>
          <a:xfrm>
            <a:off x="609600" y="457200"/>
            <a:ext cx="11582400" cy="10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6D28D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16"/>
          <p:cNvSpPr txBox="1"/>
          <p:nvPr/>
        </p:nvSpPr>
        <p:spPr>
          <a:xfrm>
            <a:off x="2009775" y="1809750"/>
            <a:ext cx="2190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Streaming Input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2038350" y="3038475"/>
            <a:ext cx="2190750" cy="2762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Retrieval Controller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2009775" y="4324350"/>
            <a:ext cx="21907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Decomposer &amp; Fusion</a:t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2009775" y="5534025"/>
            <a:ext cx="21907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Session Synthesis</a:t>
            </a:r>
            <a:endParaRPr/>
          </a:p>
        </p:txBody>
      </p:sp>
      <p:sp>
        <p:nvSpPr>
          <p:cNvPr id="164" name="Google Shape;164;p16"/>
          <p:cNvSpPr txBox="1"/>
          <p:nvPr/>
        </p:nvSpPr>
        <p:spPr>
          <a:xfrm>
            <a:off x="4486275" y="1809750"/>
            <a:ext cx="61912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[Token 1] → [Token 2] → Intent Stability Check</a:t>
            </a:r>
            <a:endParaRPr/>
          </a:p>
        </p:txBody>
      </p:sp>
      <p:sp>
        <p:nvSpPr>
          <p:cNvPr id="165" name="Google Shape;165;p16"/>
          <p:cNvSpPr txBox="1"/>
          <p:nvPr/>
        </p:nvSpPr>
        <p:spPr>
          <a:xfrm>
            <a:off x="4667250" y="3095625"/>
            <a:ext cx="4476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WAIT</a:t>
            </a:r>
            <a:endParaRPr/>
          </a:p>
        </p:txBody>
      </p:sp>
      <p:sp>
        <p:nvSpPr>
          <p:cNvPr id="166" name="Google Shape;166;p16"/>
          <p:cNvSpPr txBox="1"/>
          <p:nvPr/>
        </p:nvSpPr>
        <p:spPr>
          <a:xfrm>
            <a:off x="5476875" y="3095625"/>
            <a:ext cx="7429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4532D"/>
                </a:solidFill>
                <a:latin typeface="Inter"/>
                <a:ea typeface="Inter"/>
                <a:cs typeface="Inter"/>
                <a:sym typeface="Inter"/>
              </a:rPr>
              <a:t>RETRIEVE</a:t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6581775" y="3095625"/>
            <a:ext cx="7905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SUPPRESS</a:t>
            </a:r>
            <a:endParaRPr/>
          </a:p>
        </p:txBody>
      </p:sp>
      <p:sp>
        <p:nvSpPr>
          <p:cNvPr id="168" name="Google Shape;168;p16"/>
          <p:cNvSpPr txBox="1"/>
          <p:nvPr/>
        </p:nvSpPr>
        <p:spPr>
          <a:xfrm>
            <a:off x="4486275" y="4324350"/>
            <a:ext cx="478631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Extracts sub-queries • Parallel corpus retrieval</a:t>
            </a:r>
            <a:endParaRPr/>
          </a:p>
        </p:txBody>
      </p:sp>
      <p:sp>
        <p:nvSpPr>
          <p:cNvPr id="169" name="Google Shape;169;p16"/>
          <p:cNvSpPr txBox="1"/>
          <p:nvPr/>
        </p:nvSpPr>
        <p:spPr>
          <a:xfrm>
            <a:off x="4486275" y="5534025"/>
            <a:ext cx="54292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Streaming Answer + Grounded Citations + Telemetry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7"/>
          <p:cNvSpPr/>
          <p:nvPr/>
        </p:nvSpPr>
        <p:spPr>
          <a:xfrm>
            <a:off x="7315200" y="2855416"/>
            <a:ext cx="4267200" cy="55245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7"/>
          <p:cNvSpPr/>
          <p:nvPr/>
        </p:nvSpPr>
        <p:spPr>
          <a:xfrm>
            <a:off x="7315200" y="2855416"/>
            <a:ext cx="38100" cy="55245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76" name="Google Shape;17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1143000"/>
            <a:ext cx="6400800" cy="262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7" title="WhatsApp Image 2026-09-30 at 21.03.48.jpeg"/>
          <p:cNvPicPr preferRelativeResize="0"/>
          <p:nvPr/>
        </p:nvPicPr>
        <p:blipFill rotWithShape="1">
          <a:blip r:embed="rId4">
            <a:alphaModFix/>
          </a:blip>
          <a:srcRect b="6597" l="0" r="0" t="6597"/>
          <a:stretch/>
        </p:blipFill>
        <p:spPr>
          <a:xfrm>
            <a:off x="609600" y="1143000"/>
            <a:ext cx="6400800" cy="2628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9600" y="4076700"/>
            <a:ext cx="2590800" cy="21030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48400" y="4076700"/>
            <a:ext cx="2590800" cy="21030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7" title="WhatsApp Image 2026-09-30 at 21.15.07.jpeg"/>
          <p:cNvPicPr preferRelativeResize="0"/>
          <p:nvPr/>
        </p:nvPicPr>
        <p:blipFill rotWithShape="1">
          <a:blip r:embed="rId6">
            <a:alphaModFix/>
          </a:blip>
          <a:srcRect b="0" l="51384" r="-1359" t="0"/>
          <a:stretch/>
        </p:blipFill>
        <p:spPr>
          <a:xfrm>
            <a:off x="609600" y="4076700"/>
            <a:ext cx="2590800" cy="2103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7" title="WhatsApp Image 2026-09-30 at 20.59.47.jpeg"/>
          <p:cNvPicPr preferRelativeResize="0"/>
          <p:nvPr/>
        </p:nvPicPr>
        <p:blipFill rotWithShape="1">
          <a:blip r:embed="rId7">
            <a:alphaModFix/>
          </a:blip>
          <a:srcRect b="0" l="49799" r="0" t="0"/>
          <a:stretch/>
        </p:blipFill>
        <p:spPr>
          <a:xfrm>
            <a:off x="6248400" y="4076700"/>
            <a:ext cx="2590800" cy="2103099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7"/>
          <p:cNvSpPr txBox="1"/>
          <p:nvPr/>
        </p:nvSpPr>
        <p:spPr>
          <a:xfrm>
            <a:off x="609600" y="457200"/>
            <a:ext cx="11582400" cy="10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6D28D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3" name="Google Shape;183;p17"/>
          <p:cNvSpPr txBox="1"/>
          <p:nvPr/>
        </p:nvSpPr>
        <p:spPr>
          <a:xfrm>
            <a:off x="7315200" y="1507033"/>
            <a:ext cx="4876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Multi-Intent &amp; Grounding</a:t>
            </a:r>
            <a:endParaRPr/>
          </a:p>
        </p:txBody>
      </p:sp>
      <p:sp>
        <p:nvSpPr>
          <p:cNvPr id="184" name="Google Shape;184;p17"/>
          <p:cNvSpPr txBox="1"/>
          <p:nvPr/>
        </p:nvSpPr>
        <p:spPr>
          <a:xfrm>
            <a:off x="7315200" y="1849933"/>
            <a:ext cx="4362450" cy="8530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Query:</a:t>
            </a:r>
            <a:r>
              <a:rPr b="0" i="0" lang="en-US" sz="12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 "What is RAG and what are its main benefits?"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 Extracts two sub-queries. Answers first part with chunk citations.</a:t>
            </a:r>
            <a:endParaRPr/>
          </a:p>
        </p:txBody>
      </p:sp>
      <p:sp>
        <p:nvSpPr>
          <p:cNvPr id="185" name="Google Shape;185;p17"/>
          <p:cNvSpPr txBox="1"/>
          <p:nvPr/>
        </p:nvSpPr>
        <p:spPr>
          <a:xfrm>
            <a:off x="7467600" y="2969716"/>
            <a:ext cx="40957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Explicitly reports insufficient evidence for the unsupported sub-query.</a:t>
            </a:r>
            <a:endParaRPr/>
          </a:p>
        </p:txBody>
      </p:sp>
      <p:sp>
        <p:nvSpPr>
          <p:cNvPr id="186" name="Google Shape;186;p17"/>
          <p:cNvSpPr txBox="1"/>
          <p:nvPr/>
        </p:nvSpPr>
        <p:spPr>
          <a:xfrm>
            <a:off x="3352800" y="4832895"/>
            <a:ext cx="34004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WAIT State</a:t>
            </a:r>
            <a:endParaRPr/>
          </a:p>
        </p:txBody>
      </p:sp>
      <p:sp>
        <p:nvSpPr>
          <p:cNvPr id="187" name="Google Shape;187;p17"/>
          <p:cNvSpPr txBox="1"/>
          <p:nvPr/>
        </p:nvSpPr>
        <p:spPr>
          <a:xfrm>
            <a:off x="3352800" y="5099595"/>
            <a:ext cx="26860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"um uh well"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 No premature retrieval.</a:t>
            </a:r>
            <a:endParaRPr/>
          </a:p>
        </p:txBody>
      </p:sp>
      <p:sp>
        <p:nvSpPr>
          <p:cNvPr id="188" name="Google Shape;188;p17"/>
          <p:cNvSpPr txBox="1"/>
          <p:nvPr/>
        </p:nvSpPr>
        <p:spPr>
          <a:xfrm>
            <a:off x="8991600" y="4832895"/>
            <a:ext cx="32004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SUPPRESS State</a:t>
            </a:r>
            <a:endParaRPr/>
          </a:p>
        </p:txBody>
      </p:sp>
      <p:sp>
        <p:nvSpPr>
          <p:cNvPr id="189" name="Google Shape;189;p17"/>
          <p:cNvSpPr txBox="1"/>
          <p:nvPr/>
        </p:nvSpPr>
        <p:spPr>
          <a:xfrm>
            <a:off x="8991600" y="5099595"/>
            <a:ext cx="26860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"next slide please"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 Avoids wasted vector search.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609600" y="2371725"/>
            <a:ext cx="2571750" cy="2800350"/>
          </a:xfrm>
          <a:prstGeom prst="roundRect">
            <a:avLst>
              <a:gd fmla="val 4444" name="adj"/>
            </a:avLst>
          </a:prstGeom>
          <a:solidFill>
            <a:srgbClr val="F3F4F6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3409950" y="2371725"/>
            <a:ext cx="2571750" cy="2800350"/>
          </a:xfrm>
          <a:prstGeom prst="roundRect">
            <a:avLst>
              <a:gd fmla="val 4444" name="adj"/>
            </a:avLst>
          </a:prstGeom>
          <a:solidFill>
            <a:srgbClr val="F3F4F6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210300" y="2371725"/>
            <a:ext cx="2571750" cy="2800350"/>
          </a:xfrm>
          <a:prstGeom prst="roundRect">
            <a:avLst>
              <a:gd fmla="val 4444" name="adj"/>
            </a:avLst>
          </a:prstGeom>
          <a:solidFill>
            <a:srgbClr val="F3F4F6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010650" y="2371725"/>
            <a:ext cx="2571750" cy="2800350"/>
          </a:xfrm>
          <a:prstGeom prst="roundRect">
            <a:avLst>
              <a:gd fmla="val 4444" name="adj"/>
            </a:avLst>
          </a:prstGeom>
          <a:solidFill>
            <a:srgbClr val="F3F4F6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98" name="Google Shape;19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3925" y="2686050"/>
            <a:ext cx="3810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9" name="Google Shape;19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24275" y="2686050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24625" y="2686050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1" name="Google Shape;201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324975" y="2686050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2" name="Google Shape;202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23925" y="3638550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23925" y="4005629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23925" y="4352925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724275" y="3638550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6" name="Google Shape;206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724275" y="3990975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724275" y="4343400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24625" y="3638550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24625" y="3990975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0" name="Google Shape;210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24625" y="4343400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1" name="Google Shape;211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324975" y="3638550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324975" y="3990975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324975" y="4343400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8"/>
          <p:cNvSpPr txBox="1"/>
          <p:nvPr/>
        </p:nvSpPr>
        <p:spPr>
          <a:xfrm>
            <a:off x="609600" y="457200"/>
            <a:ext cx="11582400" cy="10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 sz="4400">
              <a:solidFill>
                <a:srgbClr val="704EA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6D28D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5" name="Google Shape;215;p18"/>
          <p:cNvSpPr txBox="1"/>
          <p:nvPr/>
        </p:nvSpPr>
        <p:spPr>
          <a:xfrm>
            <a:off x="923925" y="3219450"/>
            <a:ext cx="25503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Frontend</a:t>
            </a:r>
            <a:endParaRPr/>
          </a:p>
        </p:txBody>
      </p:sp>
      <p:sp>
        <p:nvSpPr>
          <p:cNvPr id="216" name="Google Shape;216;p18"/>
          <p:cNvSpPr txBox="1"/>
          <p:nvPr/>
        </p:nvSpPr>
        <p:spPr>
          <a:xfrm>
            <a:off x="3724275" y="3219450"/>
            <a:ext cx="25503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Backend</a:t>
            </a:r>
            <a:endParaRPr/>
          </a:p>
        </p:txBody>
      </p:sp>
      <p:sp>
        <p:nvSpPr>
          <p:cNvPr id="217" name="Google Shape;217;p18"/>
          <p:cNvSpPr txBox="1"/>
          <p:nvPr/>
        </p:nvSpPr>
        <p:spPr>
          <a:xfrm>
            <a:off x="6524625" y="3219450"/>
            <a:ext cx="25503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RAG Pipeline</a:t>
            </a:r>
            <a:endParaRPr/>
          </a:p>
        </p:txBody>
      </p:sp>
      <p:sp>
        <p:nvSpPr>
          <p:cNvPr id="218" name="Google Shape;218;p18"/>
          <p:cNvSpPr txBox="1"/>
          <p:nvPr/>
        </p:nvSpPr>
        <p:spPr>
          <a:xfrm>
            <a:off x="9324975" y="3219450"/>
            <a:ext cx="25503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LLM Engine</a:t>
            </a:r>
            <a:endParaRPr/>
          </a:p>
        </p:txBody>
      </p:sp>
      <p:sp>
        <p:nvSpPr>
          <p:cNvPr id="219" name="Google Shape;219;p18"/>
          <p:cNvSpPr txBox="1"/>
          <p:nvPr/>
        </p:nvSpPr>
        <p:spPr>
          <a:xfrm>
            <a:off x="1171575" y="3600450"/>
            <a:ext cx="21812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HTML / CSS / JS</a:t>
            </a:r>
            <a:endParaRPr/>
          </a:p>
        </p:txBody>
      </p:sp>
      <p:sp>
        <p:nvSpPr>
          <p:cNvPr id="220" name="Google Shape;220;p18"/>
          <p:cNvSpPr txBox="1"/>
          <p:nvPr/>
        </p:nvSpPr>
        <p:spPr>
          <a:xfrm>
            <a:off x="1171575" y="3967529"/>
            <a:ext cx="1790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WebSocket Streaming</a:t>
            </a:r>
            <a:endParaRPr/>
          </a:p>
        </p:txBody>
      </p:sp>
      <p:sp>
        <p:nvSpPr>
          <p:cNvPr id="221" name="Google Shape;221;p18"/>
          <p:cNvSpPr txBox="1"/>
          <p:nvPr/>
        </p:nvSpPr>
        <p:spPr>
          <a:xfrm>
            <a:off x="1171575" y="4329479"/>
            <a:ext cx="2181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Live Telemetry UI</a:t>
            </a:r>
            <a:endParaRPr/>
          </a:p>
        </p:txBody>
      </p:sp>
      <p:sp>
        <p:nvSpPr>
          <p:cNvPr id="222" name="Google Shape;222;p18"/>
          <p:cNvSpPr txBox="1"/>
          <p:nvPr/>
        </p:nvSpPr>
        <p:spPr>
          <a:xfrm>
            <a:off x="3971925" y="3600450"/>
            <a:ext cx="21812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Python 3</a:t>
            </a:r>
            <a:endParaRPr/>
          </a:p>
        </p:txBody>
      </p:sp>
      <p:sp>
        <p:nvSpPr>
          <p:cNvPr id="223" name="Google Shape;223;p18"/>
          <p:cNvSpPr txBox="1"/>
          <p:nvPr/>
        </p:nvSpPr>
        <p:spPr>
          <a:xfrm>
            <a:off x="3971925" y="3952875"/>
            <a:ext cx="21812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FastAPI</a:t>
            </a:r>
            <a:endParaRPr/>
          </a:p>
        </p:txBody>
      </p:sp>
      <p:sp>
        <p:nvSpPr>
          <p:cNvPr id="224" name="Google Shape;224;p18"/>
          <p:cNvSpPr txBox="1"/>
          <p:nvPr/>
        </p:nvSpPr>
        <p:spPr>
          <a:xfrm>
            <a:off x="3971925" y="4305300"/>
            <a:ext cx="21812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Uvicorn Server</a:t>
            </a:r>
            <a:endParaRPr/>
          </a:p>
        </p:txBody>
      </p:sp>
      <p:sp>
        <p:nvSpPr>
          <p:cNvPr id="225" name="Google Shape;225;p18"/>
          <p:cNvSpPr txBox="1"/>
          <p:nvPr/>
        </p:nvSpPr>
        <p:spPr>
          <a:xfrm>
            <a:off x="6772275" y="3600450"/>
            <a:ext cx="21812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Chroma DB</a:t>
            </a:r>
            <a:endParaRPr/>
          </a:p>
        </p:txBody>
      </p:sp>
      <p:sp>
        <p:nvSpPr>
          <p:cNvPr id="226" name="Google Shape;226;p18"/>
          <p:cNvSpPr txBox="1"/>
          <p:nvPr/>
        </p:nvSpPr>
        <p:spPr>
          <a:xfrm>
            <a:off x="6772275" y="3952875"/>
            <a:ext cx="21812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Hybrid Retrieval</a:t>
            </a:r>
            <a:endParaRPr/>
          </a:p>
        </p:txBody>
      </p:sp>
      <p:sp>
        <p:nvSpPr>
          <p:cNvPr id="227" name="Google Shape;227;p18"/>
          <p:cNvSpPr txBox="1"/>
          <p:nvPr/>
        </p:nvSpPr>
        <p:spPr>
          <a:xfrm>
            <a:off x="6772275" y="4305300"/>
            <a:ext cx="17907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Session Management</a:t>
            </a:r>
            <a:endParaRPr/>
          </a:p>
        </p:txBody>
      </p:sp>
      <p:sp>
        <p:nvSpPr>
          <p:cNvPr id="228" name="Google Shape;228;p18"/>
          <p:cNvSpPr txBox="1"/>
          <p:nvPr/>
        </p:nvSpPr>
        <p:spPr>
          <a:xfrm>
            <a:off x="9572625" y="3600450"/>
            <a:ext cx="21812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Ollama</a:t>
            </a:r>
            <a:endParaRPr/>
          </a:p>
        </p:txBody>
      </p:sp>
      <p:sp>
        <p:nvSpPr>
          <p:cNvPr id="229" name="Google Shape;229;p18"/>
          <p:cNvSpPr txBox="1"/>
          <p:nvPr/>
        </p:nvSpPr>
        <p:spPr>
          <a:xfrm>
            <a:off x="9572625" y="3952875"/>
            <a:ext cx="21812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Gemma 4 12B</a:t>
            </a:r>
            <a:endParaRPr/>
          </a:p>
        </p:txBody>
      </p:sp>
      <p:sp>
        <p:nvSpPr>
          <p:cNvPr id="230" name="Google Shape;230;p18"/>
          <p:cNvSpPr txBox="1"/>
          <p:nvPr/>
        </p:nvSpPr>
        <p:spPr>
          <a:xfrm>
            <a:off x="9572625" y="4305300"/>
            <a:ext cx="21812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Python Test Suite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9"/>
          <p:cNvSpPr/>
          <p:nvPr/>
        </p:nvSpPr>
        <p:spPr>
          <a:xfrm>
            <a:off x="609600" y="2286000"/>
            <a:ext cx="3505200" cy="1710332"/>
          </a:xfrm>
          <a:prstGeom prst="roundRect">
            <a:avLst>
              <a:gd fmla="val 6682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/>
          <p:nvPr/>
        </p:nvSpPr>
        <p:spPr>
          <a:xfrm>
            <a:off x="4343400" y="2286000"/>
            <a:ext cx="3505200" cy="1710332"/>
          </a:xfrm>
          <a:prstGeom prst="roundRect">
            <a:avLst>
              <a:gd fmla="val 6682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9"/>
          <p:cNvSpPr/>
          <p:nvPr/>
        </p:nvSpPr>
        <p:spPr>
          <a:xfrm>
            <a:off x="8077200" y="2286000"/>
            <a:ext cx="3505200" cy="1710332"/>
          </a:xfrm>
          <a:prstGeom prst="roundRect">
            <a:avLst>
              <a:gd fmla="val 6682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9"/>
          <p:cNvSpPr/>
          <p:nvPr/>
        </p:nvSpPr>
        <p:spPr>
          <a:xfrm>
            <a:off x="609600" y="2286000"/>
            <a:ext cx="35052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/>
          <p:nvPr/>
        </p:nvSpPr>
        <p:spPr>
          <a:xfrm>
            <a:off x="4343400" y="2286000"/>
            <a:ext cx="35052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9"/>
          <p:cNvSpPr/>
          <p:nvPr/>
        </p:nvSpPr>
        <p:spPr>
          <a:xfrm>
            <a:off x="8077200" y="2286000"/>
            <a:ext cx="35052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609600" y="457200"/>
            <a:ext cx="11582400" cy="10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 sz="4400">
              <a:solidFill>
                <a:srgbClr val="704EA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6D28D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19"/>
          <p:cNvSpPr txBox="1"/>
          <p:nvPr/>
        </p:nvSpPr>
        <p:spPr>
          <a:xfrm>
            <a:off x="609600" y="1143000"/>
            <a:ext cx="866775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Enabling responsive, hallucination-free interactions for voice-driven enterprise interfaces and real-time streaming assistants.</a:t>
            </a:r>
            <a:endParaRPr/>
          </a:p>
        </p:txBody>
      </p:sp>
      <p:sp>
        <p:nvSpPr>
          <p:cNvPr id="243" name="Google Shape;243;p19"/>
          <p:cNvSpPr txBox="1"/>
          <p:nvPr/>
        </p:nvSpPr>
        <p:spPr>
          <a:xfrm>
            <a:off x="914400" y="2628900"/>
            <a:ext cx="38004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Meeting Assistants</a:t>
            </a:r>
            <a:endParaRPr/>
          </a:p>
        </p:txBody>
      </p:sp>
      <p:sp>
        <p:nvSpPr>
          <p:cNvPr id="244" name="Google Shape;244;p19"/>
          <p:cNvSpPr txBox="1"/>
          <p:nvPr/>
        </p:nvSpPr>
        <p:spPr>
          <a:xfrm>
            <a:off x="914400" y="2971800"/>
            <a:ext cx="2990850" cy="7197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Processes live transcripts incrementally as speakers form complex requests.</a:t>
            </a: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4648200" y="2628900"/>
            <a:ext cx="38004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Interactive Support</a:t>
            </a:r>
            <a:endParaRPr/>
          </a:p>
        </p:txBody>
      </p:sp>
      <p:sp>
        <p:nvSpPr>
          <p:cNvPr id="246" name="Google Shape;246;p19"/>
          <p:cNvSpPr txBox="1"/>
          <p:nvPr/>
        </p:nvSpPr>
        <p:spPr>
          <a:xfrm>
            <a:off x="4648200" y="2971800"/>
            <a:ext cx="2990850" cy="7197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Handles real-time session refinement without restarting context.</a:t>
            </a:r>
            <a:endParaRPr/>
          </a:p>
        </p:txBody>
      </p:sp>
      <p:sp>
        <p:nvSpPr>
          <p:cNvPr id="247" name="Google Shape;247;p19"/>
          <p:cNvSpPr txBox="1"/>
          <p:nvPr/>
        </p:nvSpPr>
        <p:spPr>
          <a:xfrm>
            <a:off x="8382000" y="2628900"/>
            <a:ext cx="38004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Cost Efficiency</a:t>
            </a: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8382000" y="2971800"/>
            <a:ext cx="2990850" cy="7197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Suppresses unnecessary vector searches during conversational filler.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0"/>
          <p:cNvSpPr/>
          <p:nvPr/>
        </p:nvSpPr>
        <p:spPr>
          <a:xfrm>
            <a:off x="609600" y="1143000"/>
            <a:ext cx="3448050" cy="5257800"/>
          </a:xfrm>
          <a:prstGeom prst="roundRect">
            <a:avLst>
              <a:gd fmla="val 2209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0"/>
          <p:cNvSpPr/>
          <p:nvPr/>
        </p:nvSpPr>
        <p:spPr>
          <a:xfrm>
            <a:off x="4362450" y="1143000"/>
            <a:ext cx="3467100" cy="5257800"/>
          </a:xfrm>
          <a:prstGeom prst="roundRect">
            <a:avLst>
              <a:gd fmla="val 2197" name="adj"/>
            </a:avLst>
          </a:prstGeom>
          <a:solidFill>
            <a:srgbClr val="F4F7FE"/>
          </a:solidFill>
          <a:ln cap="flat" cmpd="sng" w="9525">
            <a:solidFill>
              <a:srgbClr val="D3E0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0"/>
          <p:cNvSpPr/>
          <p:nvPr/>
        </p:nvSpPr>
        <p:spPr>
          <a:xfrm>
            <a:off x="8134350" y="1143000"/>
            <a:ext cx="3448200" cy="5257800"/>
          </a:xfrm>
          <a:prstGeom prst="roundRect">
            <a:avLst>
              <a:gd fmla="val 2209" name="adj"/>
            </a:avLst>
          </a:prstGeom>
          <a:solidFill>
            <a:srgbClr val="FE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56" name="Google Shape;25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1828800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2181225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2533650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2886075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0" name="Google Shape;26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3238500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62950" y="1828800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2" name="Google Shape;26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62950" y="2269148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3" name="Google Shape;263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62950" y="2733675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20"/>
          <p:cNvSpPr txBox="1"/>
          <p:nvPr/>
        </p:nvSpPr>
        <p:spPr>
          <a:xfrm>
            <a:off x="609600" y="457200"/>
            <a:ext cx="11582400" cy="10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6D28D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5" name="Google Shape;265;p20"/>
          <p:cNvSpPr txBox="1"/>
          <p:nvPr/>
        </p:nvSpPr>
        <p:spPr>
          <a:xfrm>
            <a:off x="838200" y="1371600"/>
            <a:ext cx="392549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Innovation Highlights</a:t>
            </a:r>
            <a:endParaRPr/>
          </a:p>
        </p:txBody>
      </p:sp>
      <p:sp>
        <p:nvSpPr>
          <p:cNvPr id="266" name="Google Shape;266;p20"/>
          <p:cNvSpPr txBox="1"/>
          <p:nvPr/>
        </p:nvSpPr>
        <p:spPr>
          <a:xfrm>
            <a:off x="4600575" y="1381125"/>
            <a:ext cx="392549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Inter"/>
                <a:ea typeface="Inter"/>
                <a:cs typeface="Inter"/>
                <a:sym typeface="Inter"/>
              </a:rPr>
              <a:t>Verified Results</a:t>
            </a:r>
            <a:endParaRPr/>
          </a:p>
        </p:txBody>
      </p:sp>
      <p:sp>
        <p:nvSpPr>
          <p:cNvPr id="267" name="Google Shape;267;p20"/>
          <p:cNvSpPr txBox="1"/>
          <p:nvPr/>
        </p:nvSpPr>
        <p:spPr>
          <a:xfrm>
            <a:off x="8362950" y="1371600"/>
            <a:ext cx="38290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Limitations</a:t>
            </a:r>
            <a:endParaRPr/>
          </a:p>
        </p:txBody>
      </p:sp>
      <p:sp>
        <p:nvSpPr>
          <p:cNvPr id="268" name="Google Shape;268;p20"/>
          <p:cNvSpPr txBox="1"/>
          <p:nvPr/>
        </p:nvSpPr>
        <p:spPr>
          <a:xfrm>
            <a:off x="1123950" y="1790700"/>
            <a:ext cx="345281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Pre-utterance early retrieval</a:t>
            </a:r>
            <a:endParaRPr/>
          </a:p>
        </p:txBody>
      </p:sp>
      <p:sp>
        <p:nvSpPr>
          <p:cNvPr id="269" name="Google Shape;269;p20"/>
          <p:cNvSpPr txBox="1"/>
          <p:nvPr/>
        </p:nvSpPr>
        <p:spPr>
          <a:xfrm>
            <a:off x="1123950" y="2143125"/>
            <a:ext cx="345281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WAIT / RETRIEVE / SUPPRESS</a:t>
            </a:r>
            <a:endParaRPr/>
          </a:p>
        </p:txBody>
      </p:sp>
      <p:sp>
        <p:nvSpPr>
          <p:cNvPr id="270" name="Google Shape;270;p20"/>
          <p:cNvSpPr txBox="1"/>
          <p:nvPr/>
        </p:nvSpPr>
        <p:spPr>
          <a:xfrm>
            <a:off x="1123950" y="2495550"/>
            <a:ext cx="345281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Multi-intent decomposition</a:t>
            </a:r>
            <a:endParaRPr/>
          </a:p>
        </p:txBody>
      </p:sp>
      <p:sp>
        <p:nvSpPr>
          <p:cNvPr id="271" name="Google Shape;271;p20"/>
          <p:cNvSpPr txBox="1"/>
          <p:nvPr/>
        </p:nvSpPr>
        <p:spPr>
          <a:xfrm>
            <a:off x="1123950" y="2847975"/>
            <a:ext cx="345281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Explicit insufficient-evidence</a:t>
            </a:r>
            <a:endParaRPr/>
          </a:p>
        </p:txBody>
      </p:sp>
      <p:sp>
        <p:nvSpPr>
          <p:cNvPr id="272" name="Google Shape;272;p20"/>
          <p:cNvSpPr txBox="1"/>
          <p:nvPr/>
        </p:nvSpPr>
        <p:spPr>
          <a:xfrm>
            <a:off x="1123950" y="3200400"/>
            <a:ext cx="345281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Session-aware refinement</a:t>
            </a:r>
            <a:endParaRPr/>
          </a:p>
        </p:txBody>
      </p:sp>
      <p:sp>
        <p:nvSpPr>
          <p:cNvPr id="273" name="Google Shape;273;p20"/>
          <p:cNvSpPr txBox="1"/>
          <p:nvPr/>
        </p:nvSpPr>
        <p:spPr>
          <a:xfrm>
            <a:off x="4600575" y="1838325"/>
            <a:ext cx="3738562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101/101</a:t>
            </a:r>
            <a:endParaRPr/>
          </a:p>
        </p:txBody>
      </p:sp>
      <p:sp>
        <p:nvSpPr>
          <p:cNvPr id="274" name="Google Shape;274;p20"/>
          <p:cNvSpPr txBox="1"/>
          <p:nvPr/>
        </p:nvSpPr>
        <p:spPr>
          <a:xfrm>
            <a:off x="4600575" y="2257425"/>
            <a:ext cx="373856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Automated tests passing</a:t>
            </a:r>
            <a:endParaRPr/>
          </a:p>
        </p:txBody>
      </p:sp>
      <p:sp>
        <p:nvSpPr>
          <p:cNvPr id="275" name="Google Shape;275;p20"/>
          <p:cNvSpPr txBox="1"/>
          <p:nvPr/>
        </p:nvSpPr>
        <p:spPr>
          <a:xfrm>
            <a:off x="4600575" y="2676525"/>
            <a:ext cx="3738562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2/2</a:t>
            </a:r>
            <a:endParaRPr/>
          </a:p>
        </p:txBody>
      </p:sp>
      <p:sp>
        <p:nvSpPr>
          <p:cNvPr id="276" name="Google Shape;276;p20"/>
          <p:cNvSpPr txBox="1"/>
          <p:nvPr/>
        </p:nvSpPr>
        <p:spPr>
          <a:xfrm>
            <a:off x="4600575" y="3095625"/>
            <a:ext cx="373856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Server responsive tests passing</a:t>
            </a: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8629650" y="1790700"/>
            <a:ext cx="347186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Dependent on corpus coverage.</a:t>
            </a:r>
            <a:endParaRPr/>
          </a:p>
        </p:txBody>
      </p:sp>
      <p:sp>
        <p:nvSpPr>
          <p:cNvPr id="278" name="Google Shape;278;p20"/>
          <p:cNvSpPr txBox="1"/>
          <p:nvPr/>
        </p:nvSpPr>
        <p:spPr>
          <a:xfrm>
            <a:off x="8629650" y="2245702"/>
            <a:ext cx="2819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Strict parametric memory boundary.</a:t>
            </a:r>
            <a:endParaRPr/>
          </a:p>
        </p:txBody>
      </p:sp>
      <p:sp>
        <p:nvSpPr>
          <p:cNvPr id="279" name="Google Shape;279;p20"/>
          <p:cNvSpPr txBox="1"/>
          <p:nvPr/>
        </p:nvSpPr>
        <p:spPr>
          <a:xfrm>
            <a:off x="8629650" y="2695575"/>
            <a:ext cx="3471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Local LLM inference latency.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1"/>
          <p:cNvSpPr/>
          <p:nvPr/>
        </p:nvSpPr>
        <p:spPr>
          <a:xfrm>
            <a:off x="1333500" y="3257550"/>
            <a:ext cx="2971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1"/>
          <p:cNvSpPr/>
          <p:nvPr/>
        </p:nvSpPr>
        <p:spPr>
          <a:xfrm>
            <a:off x="4610100" y="3257550"/>
            <a:ext cx="2971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1"/>
          <p:cNvSpPr/>
          <p:nvPr/>
        </p:nvSpPr>
        <p:spPr>
          <a:xfrm>
            <a:off x="7886700" y="3257550"/>
            <a:ext cx="2971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1"/>
          <p:cNvSpPr/>
          <p:nvPr/>
        </p:nvSpPr>
        <p:spPr>
          <a:xfrm>
            <a:off x="1333500" y="3257550"/>
            <a:ext cx="19050" cy="1028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1"/>
          <p:cNvSpPr/>
          <p:nvPr/>
        </p:nvSpPr>
        <p:spPr>
          <a:xfrm>
            <a:off x="1266825" y="3257550"/>
            <a:ext cx="152400" cy="152400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1"/>
          <p:cNvSpPr/>
          <p:nvPr/>
        </p:nvSpPr>
        <p:spPr>
          <a:xfrm>
            <a:off x="4610100" y="3257550"/>
            <a:ext cx="19050" cy="1028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1"/>
          <p:cNvSpPr/>
          <p:nvPr/>
        </p:nvSpPr>
        <p:spPr>
          <a:xfrm>
            <a:off x="4543425" y="3257550"/>
            <a:ext cx="152400" cy="152400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1"/>
          <p:cNvSpPr/>
          <p:nvPr/>
        </p:nvSpPr>
        <p:spPr>
          <a:xfrm>
            <a:off x="7886700" y="3257550"/>
            <a:ext cx="19050" cy="1028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1"/>
          <p:cNvSpPr/>
          <p:nvPr/>
        </p:nvSpPr>
        <p:spPr>
          <a:xfrm>
            <a:off x="7820025" y="3257550"/>
            <a:ext cx="152400" cy="152400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1"/>
          <p:cNvSpPr txBox="1"/>
          <p:nvPr/>
        </p:nvSpPr>
        <p:spPr>
          <a:xfrm>
            <a:off x="609600" y="457200"/>
            <a:ext cx="11582400" cy="10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6D28D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4" name="Google Shape;294;p21"/>
          <p:cNvSpPr txBox="1"/>
          <p:nvPr/>
        </p:nvSpPr>
        <p:spPr>
          <a:xfrm>
            <a:off x="1581150" y="3562350"/>
            <a:ext cx="3575446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Evaluation Scale</a:t>
            </a:r>
            <a:endParaRPr/>
          </a:p>
        </p:txBody>
      </p:sp>
      <p:sp>
        <p:nvSpPr>
          <p:cNvPr id="295" name="Google Shape;295;p21"/>
          <p:cNvSpPr txBox="1"/>
          <p:nvPr/>
        </p:nvSpPr>
        <p:spPr>
          <a:xfrm>
            <a:off x="1581150" y="3886200"/>
            <a:ext cx="28194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Broader and better-curated evaluation corpora benchmarks.</a:t>
            </a:r>
            <a:endParaRPr/>
          </a:p>
        </p:txBody>
      </p:sp>
      <p:sp>
        <p:nvSpPr>
          <p:cNvPr id="296" name="Google Shape;296;p21"/>
          <p:cNvSpPr txBox="1"/>
          <p:nvPr/>
        </p:nvSpPr>
        <p:spPr>
          <a:xfrm>
            <a:off x="4857750" y="3562350"/>
            <a:ext cx="3575446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Latency Reduction</a:t>
            </a:r>
            <a:endParaRPr/>
          </a:p>
        </p:txBody>
      </p:sp>
      <p:sp>
        <p:nvSpPr>
          <p:cNvPr id="297" name="Google Shape;297;p21"/>
          <p:cNvSpPr txBox="1"/>
          <p:nvPr/>
        </p:nvSpPr>
        <p:spPr>
          <a:xfrm>
            <a:off x="4857750" y="3886200"/>
            <a:ext cx="28194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Improved retrieval/reranking and lower-latency inference.</a:t>
            </a:r>
            <a:endParaRPr/>
          </a:p>
        </p:txBody>
      </p:sp>
      <p:sp>
        <p:nvSpPr>
          <p:cNvPr id="298" name="Google Shape;298;p21"/>
          <p:cNvSpPr txBox="1"/>
          <p:nvPr/>
        </p:nvSpPr>
        <p:spPr>
          <a:xfrm>
            <a:off x="8134350" y="3562350"/>
            <a:ext cx="3575446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Speech Integration</a:t>
            </a:r>
            <a:endParaRPr/>
          </a:p>
        </p:txBody>
      </p:sp>
      <p:sp>
        <p:nvSpPr>
          <p:cNvPr id="299" name="Google Shape;299;p21"/>
          <p:cNvSpPr txBox="1"/>
          <p:nvPr/>
        </p:nvSpPr>
        <p:spPr>
          <a:xfrm>
            <a:off x="8134350" y="3886200"/>
            <a:ext cx="28194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Robust streaming speech and transcript integration.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2"/>
          <p:cNvSpPr/>
          <p:nvPr/>
        </p:nvSpPr>
        <p:spPr>
          <a:xfrm>
            <a:off x="609600" y="1143000"/>
            <a:ext cx="10972800" cy="904875"/>
          </a:xfrm>
          <a:prstGeom prst="roundRect">
            <a:avLst>
              <a:gd fmla="val 12631" name="adj"/>
            </a:avLst>
          </a:prstGeom>
          <a:solidFill>
            <a:srgbClr val="F8F5FE"/>
          </a:solidFill>
          <a:ln cap="flat" cmpd="sng" w="9525">
            <a:solidFill>
              <a:srgbClr val="E5D8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/>
          <p:nvPr/>
        </p:nvSpPr>
        <p:spPr>
          <a:xfrm>
            <a:off x="1333500" y="2505075"/>
            <a:ext cx="4648200" cy="685800"/>
          </a:xfrm>
          <a:prstGeom prst="roundRect">
            <a:avLst>
              <a:gd fmla="val 11111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2"/>
          <p:cNvSpPr/>
          <p:nvPr/>
        </p:nvSpPr>
        <p:spPr>
          <a:xfrm>
            <a:off x="6210300" y="2505075"/>
            <a:ext cx="4648200" cy="685800"/>
          </a:xfrm>
          <a:prstGeom prst="roundRect">
            <a:avLst>
              <a:gd fmla="val 11111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2"/>
          <p:cNvSpPr/>
          <p:nvPr/>
        </p:nvSpPr>
        <p:spPr>
          <a:xfrm>
            <a:off x="1333500" y="3419475"/>
            <a:ext cx="4648200" cy="685800"/>
          </a:xfrm>
          <a:prstGeom prst="roundRect">
            <a:avLst>
              <a:gd fmla="val 11111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2"/>
          <p:cNvSpPr/>
          <p:nvPr/>
        </p:nvSpPr>
        <p:spPr>
          <a:xfrm>
            <a:off x="6210300" y="3419475"/>
            <a:ext cx="4648200" cy="685800"/>
          </a:xfrm>
          <a:prstGeom prst="roundRect">
            <a:avLst>
              <a:gd fmla="val 11111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2"/>
          <p:cNvSpPr/>
          <p:nvPr/>
        </p:nvSpPr>
        <p:spPr>
          <a:xfrm>
            <a:off x="1333500" y="4333875"/>
            <a:ext cx="9525000" cy="704850"/>
          </a:xfrm>
          <a:prstGeom prst="roundRect">
            <a:avLst>
              <a:gd fmla="val 10810" name="adj"/>
            </a:avLst>
          </a:prstGeom>
          <a:solidFill>
            <a:srgbClr val="E9EFFD"/>
          </a:solidFill>
          <a:ln cap="flat" cmpd="sng" w="9525">
            <a:solidFill>
              <a:srgbClr val="D3E0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2"/>
          <p:cNvSpPr/>
          <p:nvPr/>
        </p:nvSpPr>
        <p:spPr>
          <a:xfrm>
            <a:off x="1333500" y="2505075"/>
            <a:ext cx="38100" cy="6858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2"/>
          <p:cNvSpPr/>
          <p:nvPr/>
        </p:nvSpPr>
        <p:spPr>
          <a:xfrm>
            <a:off x="6210300" y="2505075"/>
            <a:ext cx="38100" cy="6858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2"/>
          <p:cNvSpPr/>
          <p:nvPr/>
        </p:nvSpPr>
        <p:spPr>
          <a:xfrm>
            <a:off x="1333500" y="3419475"/>
            <a:ext cx="38100" cy="6858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2"/>
          <p:cNvSpPr/>
          <p:nvPr/>
        </p:nvSpPr>
        <p:spPr>
          <a:xfrm>
            <a:off x="6210300" y="3419475"/>
            <a:ext cx="38100" cy="6858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2"/>
          <p:cNvSpPr txBox="1"/>
          <p:nvPr/>
        </p:nvSpPr>
        <p:spPr>
          <a:xfrm>
            <a:off x="609600" y="457200"/>
            <a:ext cx="11582400" cy="10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6D28D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5" name="Google Shape;315;p22"/>
          <p:cNvSpPr txBox="1"/>
          <p:nvPr/>
        </p:nvSpPr>
        <p:spPr>
          <a:xfrm>
            <a:off x="-184546" y="1457325"/>
            <a:ext cx="125610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rPr>
              <a:t>"Retrieval is treated as a streaming control problem, not simply a final-step search."</a:t>
            </a:r>
            <a:endParaRPr/>
          </a:p>
        </p:txBody>
      </p:sp>
      <p:sp>
        <p:nvSpPr>
          <p:cNvPr id="316" name="Google Shape;316;p22"/>
          <p:cNvSpPr txBox="1"/>
          <p:nvPr/>
        </p:nvSpPr>
        <p:spPr>
          <a:xfrm>
            <a:off x="1600200" y="2733675"/>
            <a:ext cx="51911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Early retrieval before completion</a:t>
            </a:r>
            <a:endParaRPr/>
          </a:p>
        </p:txBody>
      </p:sp>
      <p:sp>
        <p:nvSpPr>
          <p:cNvPr id="317" name="Google Shape;317;p22"/>
          <p:cNvSpPr txBox="1"/>
          <p:nvPr/>
        </p:nvSpPr>
        <p:spPr>
          <a:xfrm>
            <a:off x="6477000" y="2733675"/>
            <a:ext cx="51911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Intent-based retrieval suppression</a:t>
            </a:r>
            <a:endParaRPr/>
          </a:p>
        </p:txBody>
      </p:sp>
      <p:sp>
        <p:nvSpPr>
          <p:cNvPr id="318" name="Google Shape;318;p22"/>
          <p:cNvSpPr txBox="1"/>
          <p:nvPr/>
        </p:nvSpPr>
        <p:spPr>
          <a:xfrm>
            <a:off x="1600200" y="3648075"/>
            <a:ext cx="51911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Multi-intent routing &amp; decomposition</a:t>
            </a:r>
            <a:endParaRPr/>
          </a:p>
        </p:txBody>
      </p:sp>
      <p:sp>
        <p:nvSpPr>
          <p:cNvPr id="319" name="Google Shape;319;p22"/>
          <p:cNvSpPr txBox="1"/>
          <p:nvPr/>
        </p:nvSpPr>
        <p:spPr>
          <a:xfrm>
            <a:off x="6477000" y="3648075"/>
            <a:ext cx="51911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Session-aware late refinement</a:t>
            </a:r>
            <a:endParaRPr/>
          </a:p>
        </p:txBody>
      </p:sp>
      <p:sp>
        <p:nvSpPr>
          <p:cNvPr id="320" name="Google Shape;320;p22"/>
          <p:cNvSpPr txBox="1"/>
          <p:nvPr/>
        </p:nvSpPr>
        <p:spPr>
          <a:xfrm>
            <a:off x="440531" y="4572000"/>
            <a:ext cx="11310937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Grounded + Observable Streaming Answers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3"/>
          <p:cNvSpPr/>
          <p:nvPr/>
        </p:nvSpPr>
        <p:spPr>
          <a:xfrm>
            <a:off x="2762250" y="2233612"/>
            <a:ext cx="6667500" cy="3076500"/>
          </a:xfrm>
          <a:prstGeom prst="roundRect">
            <a:avLst>
              <a:gd fmla="val 3715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3"/>
          <p:cNvSpPr txBox="1"/>
          <p:nvPr/>
        </p:nvSpPr>
        <p:spPr>
          <a:xfrm>
            <a:off x="609600" y="457200"/>
            <a:ext cx="11582400" cy="10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t>☑ Checklist- Updated on Public GitHub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6D28D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7" name="Google Shape;327;p23"/>
          <p:cNvSpPr txBox="1"/>
          <p:nvPr/>
        </p:nvSpPr>
        <p:spPr>
          <a:xfrm>
            <a:off x="3219450" y="2700337"/>
            <a:ext cx="64293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☑ Working prototype code — public or shared GitHub repo</a:t>
            </a:r>
            <a:endParaRPr/>
          </a:p>
        </p:txBody>
      </p:sp>
      <p:sp>
        <p:nvSpPr>
          <p:cNvPr id="328" name="Google Shape;328;p23"/>
          <p:cNvSpPr txBox="1"/>
          <p:nvPr/>
        </p:nvSpPr>
        <p:spPr>
          <a:xfrm>
            <a:off x="8562975" y="2690812"/>
            <a:ext cx="6954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(Y</a:t>
            </a:r>
            <a:r>
              <a:rPr b="1" lang="en-US" sz="16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ES</a:t>
            </a:r>
            <a:r>
              <a:rPr b="1" i="0" lang="en-US" sz="16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)</a:t>
            </a:r>
            <a:endParaRPr/>
          </a:p>
        </p:txBody>
      </p:sp>
      <p:sp>
        <p:nvSpPr>
          <p:cNvPr id="329" name="Google Shape;329;p23"/>
          <p:cNvSpPr txBox="1"/>
          <p:nvPr/>
        </p:nvSpPr>
        <p:spPr>
          <a:xfrm>
            <a:off x="3219450" y="3338512"/>
            <a:ext cx="5179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☑ README with reproducible setup instructions</a:t>
            </a:r>
            <a:endParaRPr/>
          </a:p>
        </p:txBody>
      </p:sp>
      <p:sp>
        <p:nvSpPr>
          <p:cNvPr id="330" name="Google Shape;330;p23"/>
          <p:cNvSpPr txBox="1"/>
          <p:nvPr/>
        </p:nvSpPr>
        <p:spPr>
          <a:xfrm>
            <a:off x="8562975" y="3328987"/>
            <a:ext cx="6954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(Y</a:t>
            </a:r>
            <a:r>
              <a:rPr b="1" lang="en-US" sz="16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ES</a:t>
            </a:r>
            <a:r>
              <a:rPr b="1" i="0" lang="en-US" sz="16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/>
          </a:p>
        </p:txBody>
      </p:sp>
      <p:sp>
        <p:nvSpPr>
          <p:cNvPr id="331" name="Google Shape;331;p23"/>
          <p:cNvSpPr txBox="1"/>
          <p:nvPr/>
        </p:nvSpPr>
        <p:spPr>
          <a:xfrm>
            <a:off x="3219450" y="3976687"/>
            <a:ext cx="3179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☑ Demo video, max 5 minutes</a:t>
            </a:r>
            <a:endParaRPr/>
          </a:p>
        </p:txBody>
      </p:sp>
      <p:sp>
        <p:nvSpPr>
          <p:cNvPr id="332" name="Google Shape;332;p23"/>
          <p:cNvSpPr txBox="1"/>
          <p:nvPr/>
        </p:nvSpPr>
        <p:spPr>
          <a:xfrm>
            <a:off x="8562975" y="3967162"/>
            <a:ext cx="6954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(Y</a:t>
            </a:r>
            <a:r>
              <a:rPr b="1" lang="en-US" sz="16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ES</a:t>
            </a:r>
            <a:r>
              <a:rPr b="1" i="0" lang="en-US" sz="16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/>
          </a:p>
        </p:txBody>
      </p:sp>
      <p:sp>
        <p:nvSpPr>
          <p:cNvPr id="333" name="Google Shape;333;p23"/>
          <p:cNvSpPr txBox="1"/>
          <p:nvPr/>
        </p:nvSpPr>
        <p:spPr>
          <a:xfrm>
            <a:off x="3219450" y="4614862"/>
            <a:ext cx="3417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☑ Presentation file (PPT or PDF)</a:t>
            </a:r>
            <a:endParaRPr/>
          </a:p>
        </p:txBody>
      </p:sp>
      <p:sp>
        <p:nvSpPr>
          <p:cNvPr id="334" name="Google Shape;334;p23"/>
          <p:cNvSpPr txBox="1"/>
          <p:nvPr/>
        </p:nvSpPr>
        <p:spPr>
          <a:xfrm>
            <a:off x="8562975" y="4605337"/>
            <a:ext cx="6954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(YES )</a:t>
            </a:r>
            <a:endParaRPr/>
          </a:p>
        </p:txBody>
      </p:sp>
      <p:sp>
        <p:nvSpPr>
          <p:cNvPr id="335" name="TextBox 334"/>
          <p:cNvSpPr txBox="1"/>
          <p:nvPr/>
        </p:nvSpPr>
        <p:spPr>
          <a:xfrm>
            <a:off x="914400" y="5486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b="1" sz="1400"/>
            </a:pPr>
            <a:r>
              <a:t>Official Samsung PRISM Theme 4 Demo Video:</a:t>
            </a:r>
          </a:p>
          <a:p>
            <a:pPr>
              <a:defRPr sz="1200"/>
            </a:pPr>
            <a:r>
              <a:rPr>
                <a:hlinkClick r:id="rId3"/>
              </a:rPr>
              <a:t>https://drive.google.com/file/d/1i0GMIBYXcqjJvhEG8op0SK2mIyaaOcXd/view?usp=drive_link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"/>
          <p:cNvSpPr txBox="1"/>
          <p:nvPr/>
        </p:nvSpPr>
        <p:spPr>
          <a:xfrm>
            <a:off x="1058000" y="3859825"/>
            <a:ext cx="5553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lang="en-US" sz="4600">
                <a:solidFill>
                  <a:srgbClr val="14142B"/>
                </a:solidFill>
              </a:rPr>
              <a:t>Thank you</a:t>
            </a:r>
            <a:endParaRPr sz="4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5400">
              <a:solidFill>
                <a:srgbClr val="6D28D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0" name="Google Shape;340;p24"/>
          <p:cNvSpPr txBox="1"/>
          <p:nvPr/>
        </p:nvSpPr>
        <p:spPr>
          <a:xfrm>
            <a:off x="940775" y="5691550"/>
            <a:ext cx="81183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B556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