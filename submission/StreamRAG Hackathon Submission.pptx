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8.jpg"/><Relationship Id="rId7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77240" y="676656"/>
            <a:ext cx="2423100" cy="347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77240" y="676656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77240" y="1207008"/>
            <a:ext cx="6126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7240" y="1901952"/>
            <a:ext cx="6126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7240" y="2724912"/>
            <a:ext cx="612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77240" y="3310128"/>
            <a:ext cx="5852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- 4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MSRIT_dRAG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M S Ramaiah Institute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of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 Harsh Gupta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1ms25cs062@msrit.edu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Ganesh</a:t>
            </a: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Agarwal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1ms25cs057@msrit.edu</a:t>
            </a:r>
            <a:endParaRPr sz="160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Ayush Singh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1ms25cs033@msrit.edu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Garvit Rathod </a:t>
            </a:r>
            <a:r>
              <a:rPr lang="en-US"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1ms25cs059@msrit.edu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</a:t>
            </a: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- https://github.com/ganeshagarwal264/StreamRag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5272980" y="2176462"/>
            <a:ext cx="6309419" cy="9620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272980" y="3290887"/>
            <a:ext cx="6309419" cy="9620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272980" y="4405312"/>
            <a:ext cx="6309419" cy="9620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272980" y="2176462"/>
            <a:ext cx="38100" cy="9620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272980" y="3290887"/>
            <a:ext cx="38100" cy="9620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272980" y="4405312"/>
            <a:ext cx="38100" cy="9620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09600" y="457200"/>
            <a:ext cx="1158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>
              <a:solidFill>
                <a:srgbClr val="6D28D9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2436614"/>
            <a:ext cx="43014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Conversational voice systems require incremental, real-time context.</a:t>
            </a:r>
            <a:endParaRPr>
              <a:solidFill>
                <a:srgbClr val="6D28D9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4249935"/>
            <a:ext cx="43014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Standard RAG pipelines fail to reflect natural human communication by imposing static, batch-oriented turns.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539680" y="2405062"/>
            <a:ext cx="66523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Incremental Listening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539680" y="2709862"/>
            <a:ext cx="66523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Predicts retrieval intent before utterance finishes.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539680" y="3519487"/>
            <a:ext cx="66523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Multi-Intent Queries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539680" y="3824287"/>
            <a:ext cx="66523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Extracts distinct sub-questions from unsegmented streams.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539680" y="4633912"/>
            <a:ext cx="66523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Late-Arriving Constraints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539680" y="4938712"/>
            <a:ext cx="665231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Refines answers mid-stream without discarding prior context.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609600" y="1143000"/>
            <a:ext cx="10972800" cy="1704975"/>
          </a:xfrm>
          <a:prstGeom prst="roundRect">
            <a:avLst>
              <a:gd fmla="val 67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809750" y="1914525"/>
            <a:ext cx="1990725" cy="55245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162550" y="1914525"/>
            <a:ext cx="1762125" cy="55245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286750" y="1914525"/>
            <a:ext cx="2095500" cy="55245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0764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5700" y="20764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3242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33242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1719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417195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-142875" y="1524000"/>
            <a:ext cx="12477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CONVENTIONAL QUERY-AT-A-TIME PIPELINE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789509" y="2066925"/>
            <a:ext cx="203120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Complete Query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170884" y="2066925"/>
            <a:ext cx="174545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Retrieve Docs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253412" y="2066925"/>
            <a:ext cx="21621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Generate Answer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3305175"/>
            <a:ext cx="7000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End-of-Utterance Blocking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3648075"/>
            <a:ext cx="6667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Waits for final utterance completion before initiating search.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248400" y="3305175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Compound Intent Failure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248400" y="3648075"/>
            <a:ext cx="5943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Retrieves poorly when multiple distinct needs merge.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09600" y="4152900"/>
            <a:ext cx="7000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Destructive Refinement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09600" y="4495800"/>
            <a:ext cx="6667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Late constraints force a complete pipeline restart.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248400" y="415290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Unsupported Hallucination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248400" y="4495800"/>
            <a:ext cx="5943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Fabricates answers when corpus evidence is insufficient.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1809750" y="1609725"/>
            <a:ext cx="8572500" cy="619125"/>
          </a:xfrm>
          <a:prstGeom prst="roundRect">
            <a:avLst>
              <a:gd fmla="val 12307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809750" y="2838450"/>
            <a:ext cx="8572500" cy="676275"/>
          </a:xfrm>
          <a:prstGeom prst="roundRect">
            <a:avLst>
              <a:gd fmla="val 112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809750" y="4124325"/>
            <a:ext cx="8572500" cy="600075"/>
          </a:xfrm>
          <a:prstGeom prst="roundRect">
            <a:avLst>
              <a:gd fmla="val 12698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809750" y="5334000"/>
            <a:ext cx="8572500" cy="600075"/>
          </a:xfrm>
          <a:prstGeom prst="roundRect">
            <a:avLst>
              <a:gd fmla="val 12698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1819275" y="1619250"/>
            <a:ext cx="2476500" cy="60007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809750" y="3505200"/>
            <a:ext cx="857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809750" y="2838450"/>
            <a:ext cx="857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809750" y="2838450"/>
            <a:ext cx="38100" cy="6762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0372725" y="2838450"/>
            <a:ext cx="9525" cy="6762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314825" y="2847975"/>
            <a:ext cx="9525" cy="6572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286250" y="4133850"/>
            <a:ext cx="9525" cy="5810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4286250" y="5343525"/>
            <a:ext cx="9525" cy="5810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514850" y="3038475"/>
            <a:ext cx="657225" cy="276225"/>
          </a:xfrm>
          <a:prstGeom prst="roundRect">
            <a:avLst>
              <a:gd fmla="val 13793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324475" y="3038475"/>
            <a:ext cx="952500" cy="276225"/>
          </a:xfrm>
          <a:prstGeom prst="roundRect">
            <a:avLst>
              <a:gd fmla="val 13793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429375" y="3038475"/>
            <a:ext cx="1000125" cy="276225"/>
          </a:xfrm>
          <a:prstGeom prst="roundRect">
            <a:avLst>
              <a:gd fmla="val 13793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24193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37052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49149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2009775" y="1809750"/>
            <a:ext cx="2190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Streaming Input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2038350" y="3038475"/>
            <a:ext cx="2190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Retrieval Controller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009775" y="4324350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Decomposer &amp; Fusion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2009775" y="5534025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Session Synthesis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486275" y="1809750"/>
            <a:ext cx="619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[Token 1] → [Token 2] → Intent Stability Check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667250" y="3095625"/>
            <a:ext cx="447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WAIT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5476875" y="3095625"/>
            <a:ext cx="742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RETRIEVE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581775" y="3095625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SUPPRESS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486275" y="4324350"/>
            <a:ext cx="4786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Extracts sub-queries • Parallel corpus retrieval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4486275" y="5534025"/>
            <a:ext cx="542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Streaming Answer + Grounded Citations + Telemetry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7315200" y="2855416"/>
            <a:ext cx="4267200" cy="552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315200" y="2855416"/>
            <a:ext cx="38100" cy="5524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143000"/>
            <a:ext cx="64008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title="WhatsApp Image 2026-09-30 at 21.03.48.jpeg"/>
          <p:cNvPicPr preferRelativeResize="0"/>
          <p:nvPr/>
        </p:nvPicPr>
        <p:blipFill rotWithShape="1">
          <a:blip r:embed="rId4">
            <a:alphaModFix/>
          </a:blip>
          <a:srcRect b="6597" l="0" r="0" t="6597"/>
          <a:stretch/>
        </p:blipFill>
        <p:spPr>
          <a:xfrm>
            <a:off x="609600" y="1143000"/>
            <a:ext cx="64008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076700"/>
            <a:ext cx="2590800" cy="2103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4076700"/>
            <a:ext cx="2590800" cy="2103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title="WhatsApp Image 2026-09-30 at 21.15.07.jpeg"/>
          <p:cNvPicPr preferRelativeResize="0"/>
          <p:nvPr/>
        </p:nvPicPr>
        <p:blipFill rotWithShape="1">
          <a:blip r:embed="rId6">
            <a:alphaModFix/>
          </a:blip>
          <a:srcRect b="0" l="51384" r="-1359" t="0"/>
          <a:stretch/>
        </p:blipFill>
        <p:spPr>
          <a:xfrm>
            <a:off x="609600" y="4076700"/>
            <a:ext cx="2590800" cy="210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title="WhatsApp Image 2026-09-30 at 20.59.47.jpeg"/>
          <p:cNvPicPr preferRelativeResize="0"/>
          <p:nvPr/>
        </p:nvPicPr>
        <p:blipFill rotWithShape="1">
          <a:blip r:embed="rId7">
            <a:alphaModFix/>
          </a:blip>
          <a:srcRect b="0" l="49799" r="0" t="0"/>
          <a:stretch/>
        </p:blipFill>
        <p:spPr>
          <a:xfrm>
            <a:off x="6248400" y="4076700"/>
            <a:ext cx="2590800" cy="210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7315200" y="1507033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Multi-Intent &amp; Grounding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315200" y="1849933"/>
            <a:ext cx="436245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Query:</a:t>
            </a: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"What is RAG and what are its main benefits?"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Extracts two sub-queries. Answers first part with chunk citations.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467600" y="2969716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Explicitly reports insufficient evidence for the unsupported sub-query.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3352800" y="4832895"/>
            <a:ext cx="3400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WAIT State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352800" y="5099595"/>
            <a:ext cx="2686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"um uh well"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No premature retrieval.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991600" y="4832895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SUPPRESS State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991600" y="5099595"/>
            <a:ext cx="2686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"next slide please"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Avoids wasted vector search.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609600" y="2371725"/>
            <a:ext cx="2571750" cy="2800350"/>
          </a:xfrm>
          <a:prstGeom prst="roundRect">
            <a:avLst>
              <a:gd fmla="val 4444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409950" y="2371725"/>
            <a:ext cx="2571750" cy="2800350"/>
          </a:xfrm>
          <a:prstGeom prst="roundRect">
            <a:avLst>
              <a:gd fmla="val 4444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210300" y="2371725"/>
            <a:ext cx="2571750" cy="2800350"/>
          </a:xfrm>
          <a:prstGeom prst="roundRect">
            <a:avLst>
              <a:gd fmla="val 4444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9010650" y="2371725"/>
            <a:ext cx="2571750" cy="2800350"/>
          </a:xfrm>
          <a:prstGeom prst="roundRect">
            <a:avLst>
              <a:gd fmla="val 4444" name="adj"/>
            </a:avLst>
          </a:prstGeom>
          <a:solidFill>
            <a:srgbClr val="F3F4F6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6860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2686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68605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4975" y="2686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3638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400562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43529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4275" y="3638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4275" y="39909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4275" y="4343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3638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39909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4343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4975" y="36385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4975" y="39909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4975" y="43434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923925" y="3219450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3724275" y="3219450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524625" y="3219450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RAG Pipeline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9324975" y="3219450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LLM Engine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171575" y="360045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HTML / CSS / JS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1171575" y="3967529"/>
            <a:ext cx="179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WebSocket Streaming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171575" y="4329479"/>
            <a:ext cx="21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Live Telemetry UI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3971925" y="360045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Python 3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3971925" y="3952875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FastAPI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3971925" y="430530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Uvicorn Server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772275" y="360045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Chroma DB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772275" y="3952875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Hybrid Retrieval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6772275" y="4305300"/>
            <a:ext cx="179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Session Management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9572625" y="360045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Ollama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9572625" y="3952875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Gemma 4 12B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9572625" y="430530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Python Test Suite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609600" y="2286000"/>
            <a:ext cx="3505200" cy="1710332"/>
          </a:xfrm>
          <a:prstGeom prst="roundRect">
            <a:avLst>
              <a:gd fmla="val 6682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343400" y="2286000"/>
            <a:ext cx="3505200" cy="1710332"/>
          </a:xfrm>
          <a:prstGeom prst="roundRect">
            <a:avLst>
              <a:gd fmla="val 6682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8077200" y="2286000"/>
            <a:ext cx="3505200" cy="1710332"/>
          </a:xfrm>
          <a:prstGeom prst="roundRect">
            <a:avLst>
              <a:gd fmla="val 6682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09600" y="228600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343400" y="228600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8077200" y="228600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09600" y="1143000"/>
            <a:ext cx="866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Enabling responsive, hallucination-free interactions for voice-driven enterprise interfaces and real-time streaming assistants.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914400" y="262890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Meeting Assistants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914400" y="2971800"/>
            <a:ext cx="29908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Processes live transcripts incrementally as speakers form complex requests.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4648200" y="262890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Interactive Support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4648200" y="2971800"/>
            <a:ext cx="29908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Handles real-time session refinement without restarting context.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8382000" y="2628900"/>
            <a:ext cx="380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Cost Efficiency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8382000" y="2971800"/>
            <a:ext cx="29908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Suppresses unnecessary vector searches during conversational filler.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/>
          <p:nvPr/>
        </p:nvSpPr>
        <p:spPr>
          <a:xfrm>
            <a:off x="609600" y="1143000"/>
            <a:ext cx="3448050" cy="5257800"/>
          </a:xfrm>
          <a:prstGeom prst="roundRect">
            <a:avLst>
              <a:gd fmla="val 220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362450" y="1143000"/>
            <a:ext cx="3467100" cy="5257800"/>
          </a:xfrm>
          <a:prstGeom prst="roundRect">
            <a:avLst>
              <a:gd fmla="val 2197" name="adj"/>
            </a:avLst>
          </a:prstGeom>
          <a:solidFill>
            <a:srgbClr val="F4F7FE"/>
          </a:solidFill>
          <a:ln cap="flat" cmpd="sng" w="9525">
            <a:solidFill>
              <a:srgbClr val="D3E0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8134350" y="1143000"/>
            <a:ext cx="3448200" cy="5257800"/>
          </a:xfrm>
          <a:prstGeom prst="roundRect">
            <a:avLst>
              <a:gd fmla="val 2209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88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18122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53365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886075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23850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950" y="1828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950" y="226914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950" y="27336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838200" y="1371600"/>
            <a:ext cx="39254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Innovation Highlights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4600575" y="1381125"/>
            <a:ext cx="39254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Inter"/>
                <a:ea typeface="Inter"/>
                <a:cs typeface="Inter"/>
                <a:sym typeface="Inter"/>
              </a:rPr>
              <a:t>Verified Results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8362950" y="1371600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Limitations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1123950" y="1790700"/>
            <a:ext cx="3452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Pre-utterance early retrieval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123950" y="2143125"/>
            <a:ext cx="3452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WAIT / RETRIEVE / SUPPRESS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1123950" y="2495550"/>
            <a:ext cx="3452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Multi-intent decomposition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1123950" y="2847975"/>
            <a:ext cx="3452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Explicit insufficient-evidence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123950" y="3200400"/>
            <a:ext cx="3452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Session-aware refinement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4600575" y="1838325"/>
            <a:ext cx="373856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101/101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4600575" y="2257425"/>
            <a:ext cx="37385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Automated tests passing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4600575" y="2676525"/>
            <a:ext cx="373856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2/2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4600575" y="3095625"/>
            <a:ext cx="37385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Server responsive tests passing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8629650" y="1790700"/>
            <a:ext cx="34718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Dependent on corpus coverage.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8629650" y="2245702"/>
            <a:ext cx="281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Strict parametric memory boundary.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8629650" y="2695575"/>
            <a:ext cx="3471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Local LLM inference latency.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/>
          <p:nvPr/>
        </p:nvSpPr>
        <p:spPr>
          <a:xfrm>
            <a:off x="1333500" y="3257550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610100" y="3257550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886700" y="3257550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333500" y="3257550"/>
            <a:ext cx="19050" cy="1028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266825" y="32575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610100" y="3257550"/>
            <a:ext cx="19050" cy="1028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543425" y="32575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886700" y="3257550"/>
            <a:ext cx="19050" cy="1028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7820025" y="3257550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581150" y="3562350"/>
            <a:ext cx="357544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Evaluation Scale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1581150" y="3886200"/>
            <a:ext cx="2819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Broader and better-curated evaluation corpora benchmarks.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857750" y="3562350"/>
            <a:ext cx="357544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Latency Reduction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4857750" y="3886200"/>
            <a:ext cx="2819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Improved retrieval/reranking and lower-latency inference.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8134350" y="3562350"/>
            <a:ext cx="357544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Speech Integration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8134350" y="3886200"/>
            <a:ext cx="2819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Robust streaming speech and transcript integration.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/>
          <p:nvPr/>
        </p:nvSpPr>
        <p:spPr>
          <a:xfrm>
            <a:off x="609600" y="1143000"/>
            <a:ext cx="10972800" cy="904875"/>
          </a:xfrm>
          <a:prstGeom prst="roundRect">
            <a:avLst>
              <a:gd fmla="val 12631" name="adj"/>
            </a:avLst>
          </a:prstGeom>
          <a:solidFill>
            <a:srgbClr val="F8F5FE"/>
          </a:solidFill>
          <a:ln cap="flat" cmpd="sng" w="9525">
            <a:solidFill>
              <a:srgbClr val="E5D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1333500" y="2505075"/>
            <a:ext cx="4648200" cy="6858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6210300" y="2505075"/>
            <a:ext cx="4648200" cy="6858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1333500" y="3419475"/>
            <a:ext cx="4648200" cy="6858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210300" y="3419475"/>
            <a:ext cx="4648200" cy="6858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1333500" y="4333875"/>
            <a:ext cx="9525000" cy="704850"/>
          </a:xfrm>
          <a:prstGeom prst="roundRect">
            <a:avLst>
              <a:gd fmla="val 10810" name="adj"/>
            </a:avLst>
          </a:prstGeom>
          <a:solidFill>
            <a:srgbClr val="E9EFFD"/>
          </a:solidFill>
          <a:ln cap="flat" cmpd="sng" w="9525">
            <a:solidFill>
              <a:srgbClr val="D3E0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1333500" y="2505075"/>
            <a:ext cx="38100" cy="685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210300" y="2505075"/>
            <a:ext cx="38100" cy="685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1333500" y="3419475"/>
            <a:ext cx="38100" cy="685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210300" y="3419475"/>
            <a:ext cx="38100" cy="6858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-184546" y="1457325"/>
            <a:ext cx="125610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"Retrieval is treated as a streaming control problem, not simply a final-step search."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1600200" y="2733675"/>
            <a:ext cx="519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Early retrieval before completion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477000" y="2733675"/>
            <a:ext cx="519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Intent-based retrieval suppression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1600200" y="3648075"/>
            <a:ext cx="519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Multi-intent routing &amp; decomposition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6477000" y="3648075"/>
            <a:ext cx="519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Session-aware late refinement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440531" y="4572000"/>
            <a:ext cx="113109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Grounded + Observable Streaming Answers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2762250" y="2233612"/>
            <a:ext cx="6667500" cy="3076500"/>
          </a:xfrm>
          <a:prstGeom prst="roundRect">
            <a:avLst>
              <a:gd fmla="val 371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609600" y="457200"/>
            <a:ext cx="11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3219450" y="2700337"/>
            <a:ext cx="6429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Working prototype code — public or shared GitHub repo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8562975" y="2690812"/>
            <a:ext cx="69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(Y</a:t>
            </a:r>
            <a:r>
              <a:rPr b="1" lang="en-US" sz="16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)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3219450" y="3338512"/>
            <a:ext cx="517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README with reproducible setup instructions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8562975" y="3328987"/>
            <a:ext cx="69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(Y</a:t>
            </a:r>
            <a:r>
              <a:rPr b="1" lang="en-US" sz="16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3219450" y="3976687"/>
            <a:ext cx="317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Demo video, max 5 minutes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8562975" y="3967162"/>
            <a:ext cx="69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(Y</a:t>
            </a:r>
            <a:r>
              <a:rPr b="1" lang="en-US" sz="16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3219450" y="4614862"/>
            <a:ext cx="341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Presentation file (PPT or PDF)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8562975" y="4605337"/>
            <a:ext cx="69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(YES 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/>
          <p:nvPr/>
        </p:nvSpPr>
        <p:spPr>
          <a:xfrm>
            <a:off x="1058000" y="3859825"/>
            <a:ext cx="5553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lang="en-US" sz="4600">
                <a:solidFill>
                  <a:srgbClr val="14142B"/>
                </a:solidFill>
              </a:rPr>
              <a:t>Thank you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6D28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940775" y="5691550"/>
            <a:ext cx="811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